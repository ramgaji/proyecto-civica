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73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0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34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Análisis, Conservación y Seguimiento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Especies de Aves y Mamíferos de España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Ingeniería de Datos — MITECO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9202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Snowflake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834640"/>
            <a:ext cx="19202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65176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Medallion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834640"/>
            <a:ext cx="19202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2834640"/>
            <a:ext cx="19202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85800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GitHub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32004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dbt Fusion 2.0  ·  Snowflake  ·  dbt_utils  ·  Power BI  ·  Python  ·  GitHub Actions</a:t>
            </a:r>
            <a:endParaRPr lang="en-US" sz="11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BECD12C-5331-4A83-202E-6F118AE5DAAF}"/>
              </a:ext>
            </a:extLst>
          </p:cNvPr>
          <p:cNvSpPr txBox="1"/>
          <p:nvPr/>
        </p:nvSpPr>
        <p:spPr>
          <a:xfrm>
            <a:off x="4519510" y="4101327"/>
            <a:ext cx="22995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Autor: </a:t>
            </a:r>
          </a:p>
          <a:p>
            <a:r>
              <a:rPr lang="en-US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Ramón García Jiménez</a:t>
            </a:r>
            <a:endParaRPr lang="en-US" dirty="0">
              <a:latin typeface="Aptos Display" panose="020B0004020202020204" pitchFamily="34" charset="0"/>
            </a:endParaRPr>
          </a:p>
          <a:p>
            <a:endParaRPr lang="es-ES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9B146B4-945D-5861-7779-F5576FF40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398" y="3910786"/>
            <a:ext cx="1048845" cy="956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encargo del MITECO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para la Transición Ecológica · Proyecto de monitoreo de biodiversidad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1A3C2B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74904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“Necesitamos saber qué</a:t>
            </a:r>
            <a:endParaRPr lang="en-US" sz="1700" dirty="0"/>
          </a:p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 hay, dónde están</a:t>
            </a:r>
            <a:endParaRPr lang="en-US" sz="1700" dirty="0"/>
          </a:p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cómo evolucionan.</a:t>
            </a:r>
            <a:endParaRPr lang="en-US" sz="1700" dirty="0"/>
          </a:p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fondos europeos</a:t>
            </a:r>
            <a:endParaRPr lang="en-US" sz="1700" dirty="0"/>
          </a:p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juego.”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MITECO — Unidad de Biodiversidad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800600" y="1124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🦅  Control de </a:t>
            </a:r>
            <a:r>
              <a:rPr lang="en-US" sz="1300" b="1" dirty="0" err="1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</a:t>
            </a:r>
            <a:r>
              <a:rPr lang="en-US" sz="13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00" b="1" dirty="0" err="1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través</a:t>
            </a:r>
            <a:r>
              <a:rPr lang="en-US" sz="13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4721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avistamientos fuera de zonas protegidas y verificar patrones de distribución.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258568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0060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Censos y predicción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679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poblaciones por especie y provincia. Detectar declives antes de que sean críticos.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3465576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00600" y="3538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Diversidad ecológica por CCAA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886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Shannon &amp; Simpson por comunidad autónoma para justificar subvenciones de la UE.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</a:t>
            </a:r>
            <a:r>
              <a:rPr lang="en-US" sz="2600" b="1" dirty="0" err="1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r>
              <a:rPr lang="en-US" sz="2600" b="1" dirty="0" err="1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España · Mammalia y Aves · Fuente: iNaturalist + censos oficiales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38912" y="10881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🦁  Especie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científico + nombre común. Cada especie tiene Familia → Clase (Mammalia / Aves).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Lynx pardinus → Felidae → Mammalia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19272" y="10881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Avistamiento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georeferenciada de iNaturalist. Tiene fecha, coordenadas GPS y estado de verificación.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99632" y="10881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🏞  Área Protegida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con figura de protección: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LIC (Lugar de Interés Comunitario)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ZEPA (Aves)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Parque Nacional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38912" y="3008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Censo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oficial de individuos por especie, provincia y año. Permite calcular tendencias de población.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319272" y="3008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Amenaza + CITES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42900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especie tiene tipo de amenaza (hábitat, </a:t>
            </a:r>
            <a:r>
              <a:rPr lang="en-US" sz="100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furtivismo</a:t>
            </a: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apéndice CITES que regula su comercio.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199632" y="3008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Estado conservación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000" dirty="0"/>
              <a:t>Código IUCN: LC (Preocupación menor), NT (Casi amenazada), VU (Vulnerable), EN (En peligro), CR (En peligro crítico). </a:t>
            </a:r>
            <a:r>
              <a:rPr lang="es-ES" sz="1000" dirty="0" err="1"/>
              <a:t>Ej</a:t>
            </a:r>
            <a:r>
              <a:rPr lang="es-ES" sz="1000" dirty="0"/>
              <a:t>: Lince ibérico: CR (2002) → EN (2015) → VU (2024).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Medallion con dbt + Snowflake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(stg + mix) → Gold (marts)  ·  Imagen: DAG real del proyecto</a:t>
            </a:r>
            <a:endParaRPr lang="en-US" sz="12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E615ED3-FDAE-5713-BEC7-2FC43B2FFBAD}"/>
              </a:ext>
            </a:extLst>
          </p:cNvPr>
          <p:cNvSpPr/>
          <p:nvPr/>
        </p:nvSpPr>
        <p:spPr>
          <a:xfrm>
            <a:off x="228600" y="960120"/>
            <a:ext cx="2103120" cy="3931920"/>
          </a:xfrm>
          <a:prstGeom prst="rect">
            <a:avLst/>
          </a:prstGeom>
          <a:solidFill>
            <a:srgbClr val="FFF3E0"/>
          </a:solidFill>
          <a:ln w="12700">
            <a:solidFill>
              <a:srgbClr val="7B3F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10B8867-D39C-88B1-17FC-1D10C40DC33F}"/>
              </a:ext>
            </a:extLst>
          </p:cNvPr>
          <p:cNvSpPr/>
          <p:nvPr/>
        </p:nvSpPr>
        <p:spPr>
          <a:xfrm>
            <a:off x="228600" y="960120"/>
            <a:ext cx="2103120" cy="384048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2627A9E-2F0B-C44E-8A43-C618B5E783D9}"/>
              </a:ext>
            </a:extLst>
          </p:cNvPr>
          <p:cNvSpPr/>
          <p:nvPr/>
        </p:nvSpPr>
        <p:spPr>
          <a:xfrm>
            <a:off x="228600" y="978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5B5A377-FA94-2411-6D8B-21402C024EE5}"/>
              </a:ext>
            </a:extLst>
          </p:cNvPr>
          <p:cNvSpPr/>
          <p:nvPr/>
        </p:nvSpPr>
        <p:spPr>
          <a:xfrm>
            <a:off x="301752" y="138988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raw en Snowflake.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cargados sin transformar.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como catálogos fijos.</a:t>
            </a:r>
            <a:endParaRPr lang="en-US" sz="9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F132FD9-F939-878D-2C25-40CD0B070596}"/>
              </a:ext>
            </a:extLst>
          </p:cNvPr>
          <p:cNvSpPr/>
          <p:nvPr/>
        </p:nvSpPr>
        <p:spPr>
          <a:xfrm>
            <a:off x="2505456" y="993518"/>
            <a:ext cx="2103120" cy="3931920"/>
          </a:xfrm>
          <a:prstGeom prst="rect">
            <a:avLst/>
          </a:prstGeom>
          <a:solidFill>
            <a:srgbClr val="E3F0FA"/>
          </a:solidFill>
          <a:ln w="12700">
            <a:solidFill>
              <a:srgbClr val="1B496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F8A8491-B02D-01C0-6E95-D68D66D27824}"/>
              </a:ext>
            </a:extLst>
          </p:cNvPr>
          <p:cNvSpPr/>
          <p:nvPr/>
        </p:nvSpPr>
        <p:spPr>
          <a:xfrm>
            <a:off x="2514600" y="960120"/>
            <a:ext cx="2103120" cy="384048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8B244499-091E-76E4-7EFC-9256C49A0C82}"/>
              </a:ext>
            </a:extLst>
          </p:cNvPr>
          <p:cNvSpPr/>
          <p:nvPr/>
        </p:nvSpPr>
        <p:spPr>
          <a:xfrm>
            <a:off x="2514600" y="978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avistamientos,especies</a:t>
            </a:r>
            <a:endParaRPr lang="en-US" sz="1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DEA0404-9430-02CD-9E1D-FA376073DF55}"/>
              </a:ext>
            </a:extLst>
          </p:cNvPr>
          <p:cNvSpPr/>
          <p:nvPr/>
        </p:nvSpPr>
        <p:spPr>
          <a:xfrm>
            <a:off x="2702052" y="1687911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calidad.</a:t>
            </a:r>
            <a:endParaRPr lang="en-US" sz="9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columnas </a:t>
            </a: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útiles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7CC1136-CCCF-E262-5768-B07AC2FA8835}"/>
              </a:ext>
            </a:extLst>
          </p:cNvPr>
          <p:cNvSpPr/>
          <p:nvPr/>
        </p:nvSpPr>
        <p:spPr>
          <a:xfrm>
            <a:off x="4807993" y="923025"/>
            <a:ext cx="2103120" cy="3931920"/>
          </a:xfrm>
          <a:prstGeom prst="rect">
            <a:avLst/>
          </a:prstGeom>
          <a:solidFill>
            <a:srgbClr val="E6F5EF"/>
          </a:solidFill>
          <a:ln w="12700">
            <a:solidFill>
              <a:srgbClr val="1B6E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3AC858C-A170-C457-FA21-052610B620D4}"/>
              </a:ext>
            </a:extLst>
          </p:cNvPr>
          <p:cNvSpPr/>
          <p:nvPr/>
        </p:nvSpPr>
        <p:spPr>
          <a:xfrm>
            <a:off x="4800600" y="960120"/>
            <a:ext cx="2103120" cy="384048"/>
          </a:xfrm>
          <a:prstGeom prst="rect">
            <a:avLst/>
          </a:prstGeom>
          <a:solidFill>
            <a:srgbClr val="1B6E5C"/>
          </a:solidFill>
          <a:ln w="12700">
            <a:solidFill>
              <a:srgbClr val="1B6E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FD7569A5-3B6E-8CF4-F695-7AA77B398307}"/>
              </a:ext>
            </a:extLst>
          </p:cNvPr>
          <p:cNvSpPr/>
          <p:nvPr/>
        </p:nvSpPr>
        <p:spPr>
          <a:xfrm>
            <a:off x="4800600" y="978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mix</a:t>
            </a:r>
            <a:endParaRPr lang="en-US" sz="10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93F98F34-AB1F-873B-6A24-9D05EBE4E875}"/>
              </a:ext>
            </a:extLst>
          </p:cNvPr>
          <p:cNvSpPr/>
          <p:nvPr/>
        </p:nvSpPr>
        <p:spPr>
          <a:xfrm>
            <a:off x="4873752" y="138988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vista salvo incremental merge </a:t>
            </a: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mix_avistamiento</a:t>
            </a:r>
            <a:endParaRPr lang="en-US" sz="9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surrogate keys.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entre </a:t>
            </a: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29EE7E98-DFFE-C863-0C3D-C0F357D32EDE}"/>
              </a:ext>
            </a:extLst>
          </p:cNvPr>
          <p:cNvSpPr/>
          <p:nvPr/>
        </p:nvSpPr>
        <p:spPr>
          <a:xfrm>
            <a:off x="6967728" y="911611"/>
            <a:ext cx="2103120" cy="3931920"/>
          </a:xfrm>
          <a:prstGeom prst="rect">
            <a:avLst/>
          </a:prstGeom>
          <a:solidFill>
            <a:srgbClr val="F3E8FF"/>
          </a:solidFill>
          <a:ln w="12700">
            <a:solidFill>
              <a:srgbClr val="6B21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B4B5C329-86D5-49EB-C85B-45553D347A22}"/>
              </a:ext>
            </a:extLst>
          </p:cNvPr>
          <p:cNvSpPr/>
          <p:nvPr/>
        </p:nvSpPr>
        <p:spPr>
          <a:xfrm>
            <a:off x="7086600" y="960120"/>
            <a:ext cx="2103120" cy="38404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B6E0559-044F-703F-834A-224755C902E5}"/>
              </a:ext>
            </a:extLst>
          </p:cNvPr>
          <p:cNvSpPr/>
          <p:nvPr/>
        </p:nvSpPr>
        <p:spPr>
          <a:xfrm>
            <a:off x="7086600" y="978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marts</a:t>
            </a:r>
            <a:endParaRPr lang="en-US" sz="10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D8DAC157-84DB-CAB0-5F2F-501235030638}"/>
              </a:ext>
            </a:extLst>
          </p:cNvPr>
          <p:cNvSpPr/>
          <p:nvPr/>
        </p:nvSpPr>
        <p:spPr>
          <a:xfrm>
            <a:off x="7178040" y="1165535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materializadas</a:t>
            </a:r>
            <a:endParaRPr lang="en-US" sz="9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Desnormalización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BI.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+ Facts.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SCD-2.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negocio.</a:t>
            </a:r>
            <a:endParaRPr lang="en-US" sz="90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C19C1F6-6EE2-37C5-80D0-4D7C6AE99B12}"/>
              </a:ext>
            </a:extLst>
          </p:cNvPr>
          <p:cNvSpPr/>
          <p:nvPr/>
        </p:nvSpPr>
        <p:spPr>
          <a:xfrm>
            <a:off x="320040" y="2514600"/>
            <a:ext cx="1828800" cy="347472"/>
          </a:xfrm>
          <a:prstGeom prst="rect">
            <a:avLst/>
          </a:prstGeom>
          <a:solidFill>
            <a:srgbClr val="FFE0B2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58C95A82-E545-9E09-320A-A87AD8F75B99}"/>
              </a:ext>
            </a:extLst>
          </p:cNvPr>
          <p:cNvSpPr/>
          <p:nvPr/>
        </p:nvSpPr>
        <p:spPr>
          <a:xfrm>
            <a:off x="320040" y="2514600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E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avistamientos.areas</a:t>
            </a:r>
            <a:endParaRPr lang="en-US" sz="8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47F2A335-AA0D-305C-4B7A-EE12E1EEF514}"/>
              </a:ext>
            </a:extLst>
          </p:cNvPr>
          <p:cNvSpPr/>
          <p:nvPr/>
        </p:nvSpPr>
        <p:spPr>
          <a:xfrm>
            <a:off x="320040" y="2971800"/>
            <a:ext cx="1828800" cy="347472"/>
          </a:xfrm>
          <a:prstGeom prst="rect">
            <a:avLst/>
          </a:prstGeom>
          <a:solidFill>
            <a:srgbClr val="FFE0B2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9D8B8B86-9FA6-265F-9C85-342DA93EE260}"/>
              </a:ext>
            </a:extLst>
          </p:cNvPr>
          <p:cNvSpPr/>
          <p:nvPr/>
        </p:nvSpPr>
        <p:spPr>
          <a:xfrm>
            <a:off x="32004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E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avistamientos.observaciones</a:t>
            </a:r>
            <a:endParaRPr lang="en-US" sz="800" dirty="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D930CF28-88A9-31DF-848C-5384DE97DA95}"/>
              </a:ext>
            </a:extLst>
          </p:cNvPr>
          <p:cNvSpPr/>
          <p:nvPr/>
        </p:nvSpPr>
        <p:spPr>
          <a:xfrm>
            <a:off x="320040" y="3429000"/>
            <a:ext cx="1828800" cy="347472"/>
          </a:xfrm>
          <a:prstGeom prst="rect">
            <a:avLst/>
          </a:prstGeom>
          <a:solidFill>
            <a:srgbClr val="FFE0B2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FA4B6505-30F3-7555-732D-A17CEEA37953}"/>
              </a:ext>
            </a:extLst>
          </p:cNvPr>
          <p:cNvSpPr/>
          <p:nvPr/>
        </p:nvSpPr>
        <p:spPr>
          <a:xfrm>
            <a:off x="32004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E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especies.catalogo</a:t>
            </a:r>
            <a:endParaRPr lang="en-US" sz="800" dirty="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82BF4F38-3835-8792-8984-3A9D1864F3A4}"/>
              </a:ext>
            </a:extLst>
          </p:cNvPr>
          <p:cNvSpPr/>
          <p:nvPr/>
        </p:nvSpPr>
        <p:spPr>
          <a:xfrm>
            <a:off x="320040" y="3886200"/>
            <a:ext cx="1828800" cy="347472"/>
          </a:xfrm>
          <a:prstGeom prst="rect">
            <a:avLst/>
          </a:prstGeom>
          <a:solidFill>
            <a:srgbClr val="FFE0B2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715CF794-B79F-C814-C9CB-59C72A3B7042}"/>
              </a:ext>
            </a:extLst>
          </p:cNvPr>
          <p:cNvSpPr/>
          <p:nvPr/>
        </p:nvSpPr>
        <p:spPr>
          <a:xfrm>
            <a:off x="32004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E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especies.censos</a:t>
            </a:r>
            <a:endParaRPr lang="en-US" sz="800" dirty="0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039822BC-E6CB-4FEC-A737-ED3F2F0676F8}"/>
              </a:ext>
            </a:extLst>
          </p:cNvPr>
          <p:cNvSpPr/>
          <p:nvPr/>
        </p:nvSpPr>
        <p:spPr>
          <a:xfrm>
            <a:off x="320040" y="4343400"/>
            <a:ext cx="1828800" cy="347472"/>
          </a:xfrm>
          <a:prstGeom prst="rect">
            <a:avLst/>
          </a:prstGeom>
          <a:solidFill>
            <a:srgbClr val="FFE0B2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46990076-DFD3-B034-5E34-A4C46D916802}"/>
              </a:ext>
            </a:extLst>
          </p:cNvPr>
          <p:cNvSpPr/>
          <p:nvPr/>
        </p:nvSpPr>
        <p:spPr>
          <a:xfrm>
            <a:off x="32004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E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seeds: provincias,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E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estados, amenazas</a:t>
            </a:r>
            <a:endParaRPr lang="en-US" sz="800" dirty="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71AF974A-63E8-01C2-01A0-CE4A6146E7C8}"/>
              </a:ext>
            </a:extLst>
          </p:cNvPr>
          <p:cNvSpPr/>
          <p:nvPr/>
        </p:nvSpPr>
        <p:spPr>
          <a:xfrm>
            <a:off x="2615498" y="3016840"/>
            <a:ext cx="1920240" cy="347472"/>
          </a:xfrm>
          <a:prstGeom prst="rect">
            <a:avLst/>
          </a:prstGeom>
          <a:solidFill>
            <a:srgbClr val="D0E9F7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DCAB2B4C-C4DE-7C58-714F-9B7482FDBAB8}"/>
              </a:ext>
            </a:extLst>
          </p:cNvPr>
          <p:cNvSpPr/>
          <p:nvPr/>
        </p:nvSpPr>
        <p:spPr>
          <a:xfrm>
            <a:off x="2596896" y="3001276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stg_avistamientos__areas</a:t>
            </a:r>
            <a:endParaRPr lang="en-US" sz="75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776D6AC0-241F-6AD0-AE66-EECCB606DAC2}"/>
              </a:ext>
            </a:extLst>
          </p:cNvPr>
          <p:cNvSpPr/>
          <p:nvPr/>
        </p:nvSpPr>
        <p:spPr>
          <a:xfrm>
            <a:off x="2596896" y="3424963"/>
            <a:ext cx="1920240" cy="347472"/>
          </a:xfrm>
          <a:prstGeom prst="rect">
            <a:avLst/>
          </a:prstGeom>
          <a:solidFill>
            <a:srgbClr val="D0E9F7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53C70675-0245-5986-E568-22C36108CD4C}"/>
              </a:ext>
            </a:extLst>
          </p:cNvPr>
          <p:cNvSpPr/>
          <p:nvPr/>
        </p:nvSpPr>
        <p:spPr>
          <a:xfrm>
            <a:off x="2633472" y="3446025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stg_avistamientos__observaciones</a:t>
            </a:r>
            <a:endParaRPr lang="en-US" sz="750" dirty="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1FD8720C-C94A-9927-1C51-A3B6E91C84C3}"/>
              </a:ext>
            </a:extLst>
          </p:cNvPr>
          <p:cNvSpPr/>
          <p:nvPr/>
        </p:nvSpPr>
        <p:spPr>
          <a:xfrm>
            <a:off x="2596896" y="3935649"/>
            <a:ext cx="1920240" cy="347472"/>
          </a:xfrm>
          <a:prstGeom prst="rect">
            <a:avLst/>
          </a:prstGeom>
          <a:solidFill>
            <a:srgbClr val="D0E9F7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FC75ACA8-6BB5-A3A9-A9A6-8771BFFAEF14}"/>
              </a:ext>
            </a:extLst>
          </p:cNvPr>
          <p:cNvSpPr/>
          <p:nvPr/>
        </p:nvSpPr>
        <p:spPr>
          <a:xfrm>
            <a:off x="2523744" y="3886200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stg_especies__catalogo</a:t>
            </a:r>
            <a:endParaRPr lang="en-US" sz="750" dirty="0"/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AF3DFA24-579F-8256-6DD1-604423EB7863}"/>
              </a:ext>
            </a:extLst>
          </p:cNvPr>
          <p:cNvSpPr/>
          <p:nvPr/>
        </p:nvSpPr>
        <p:spPr>
          <a:xfrm>
            <a:off x="2596896" y="4358640"/>
            <a:ext cx="1920240" cy="347472"/>
          </a:xfrm>
          <a:prstGeom prst="rect">
            <a:avLst/>
          </a:prstGeom>
          <a:solidFill>
            <a:srgbClr val="D0E9F7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AEF65EFB-75CE-0763-0CB6-B88A5FB50B84}"/>
              </a:ext>
            </a:extLst>
          </p:cNvPr>
          <p:cNvSpPr/>
          <p:nvPr/>
        </p:nvSpPr>
        <p:spPr>
          <a:xfrm>
            <a:off x="2606040" y="4332570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stg_especies__censos</a:t>
            </a:r>
            <a:endParaRPr lang="en-US" sz="750" dirty="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A2D7F00B-E91C-47BD-87EF-86CA4AA3B8CA}"/>
              </a:ext>
            </a:extLst>
          </p:cNvPr>
          <p:cNvSpPr/>
          <p:nvPr/>
        </p:nvSpPr>
        <p:spPr>
          <a:xfrm>
            <a:off x="4899433" y="2210547"/>
            <a:ext cx="1920240" cy="347472"/>
          </a:xfrm>
          <a:prstGeom prst="rect">
            <a:avLst/>
          </a:prstGeom>
          <a:solidFill>
            <a:srgbClr val="C8EDE1"/>
          </a:solidFill>
          <a:ln w="12700">
            <a:solidFill>
              <a:srgbClr val="1B6E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AC6034B5-9325-4BD5-EB6F-52FAA5AE8DF3}"/>
              </a:ext>
            </a:extLst>
          </p:cNvPr>
          <p:cNvSpPr/>
          <p:nvPr/>
        </p:nvSpPr>
        <p:spPr>
          <a:xfrm>
            <a:off x="4791456" y="2232579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stg_mix__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</a:t>
            </a: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familia, 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</a:t>
            </a: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tipo_amenaza</a:t>
            </a:r>
            <a:endParaRPr lang="en-US" sz="750" dirty="0"/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EC3C61D7-E296-8D27-1528-DE8EA626ADCD}"/>
              </a:ext>
            </a:extLst>
          </p:cNvPr>
          <p:cNvSpPr/>
          <p:nvPr/>
        </p:nvSpPr>
        <p:spPr>
          <a:xfrm>
            <a:off x="4899433" y="2609803"/>
            <a:ext cx="1920240" cy="347472"/>
          </a:xfrm>
          <a:prstGeom prst="rect">
            <a:avLst/>
          </a:prstGeom>
          <a:solidFill>
            <a:srgbClr val="C8EDE1"/>
          </a:solidFill>
          <a:ln w="12700">
            <a:solidFill>
              <a:srgbClr val="1B6E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56BF4F11-3E5E-76B8-4528-67DD68ECF0E6}"/>
              </a:ext>
            </a:extLst>
          </p:cNvPr>
          <p:cNvSpPr/>
          <p:nvPr/>
        </p:nvSpPr>
        <p:spPr>
          <a:xfrm>
            <a:off x="4891164" y="2613174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stg_mix__localizacion</a:t>
            </a:r>
            <a:endParaRPr lang="en-US" sz="75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C4F66AAB-9CBC-360D-41E7-7EFFFABAC462}"/>
              </a:ext>
            </a:extLst>
          </p:cNvPr>
          <p:cNvSpPr/>
          <p:nvPr/>
        </p:nvSpPr>
        <p:spPr>
          <a:xfrm>
            <a:off x="4899433" y="3032462"/>
            <a:ext cx="1920240" cy="347472"/>
          </a:xfrm>
          <a:prstGeom prst="rect">
            <a:avLst/>
          </a:prstGeom>
          <a:solidFill>
            <a:srgbClr val="C8EDE1"/>
          </a:solidFill>
          <a:ln w="12700">
            <a:solidFill>
              <a:srgbClr val="1B6E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19FB2065-1447-45F2-B1C1-943A0936CB69}"/>
              </a:ext>
            </a:extLst>
          </p:cNvPr>
          <p:cNvSpPr/>
          <p:nvPr/>
        </p:nvSpPr>
        <p:spPr>
          <a:xfrm>
            <a:off x="4945153" y="3039571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stg_mix__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area_protegida</a:t>
            </a:r>
            <a:endParaRPr lang="en-US" sz="750" dirty="0"/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A74C0CAA-8FC3-CC29-8D7E-B8D7A1EB6370}"/>
              </a:ext>
            </a:extLst>
          </p:cNvPr>
          <p:cNvSpPr/>
          <p:nvPr/>
        </p:nvSpPr>
        <p:spPr>
          <a:xfrm>
            <a:off x="4899433" y="3491177"/>
            <a:ext cx="1920240" cy="347472"/>
          </a:xfrm>
          <a:prstGeom prst="rect">
            <a:avLst/>
          </a:prstGeom>
          <a:solidFill>
            <a:srgbClr val="C8EDE1"/>
          </a:solidFill>
          <a:ln w="12700">
            <a:solidFill>
              <a:srgbClr val="1B6E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2050F012-15CE-FCA7-EE4C-C2099688B7AA}"/>
              </a:ext>
            </a:extLst>
          </p:cNvPr>
          <p:cNvSpPr/>
          <p:nvPr/>
        </p:nvSpPr>
        <p:spPr>
          <a:xfrm>
            <a:off x="4891164" y="3437139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stg_mix__avistamiento ↑ incremental</a:t>
            </a:r>
            <a:endParaRPr lang="en-US" sz="750" dirty="0"/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403AC5BC-F684-3C3B-078C-396CB9F300E9}"/>
              </a:ext>
            </a:extLst>
          </p:cNvPr>
          <p:cNvSpPr/>
          <p:nvPr/>
        </p:nvSpPr>
        <p:spPr>
          <a:xfrm>
            <a:off x="4899433" y="3931864"/>
            <a:ext cx="1920240" cy="347472"/>
          </a:xfrm>
          <a:prstGeom prst="rect">
            <a:avLst/>
          </a:prstGeom>
          <a:solidFill>
            <a:srgbClr val="C8EDE1"/>
          </a:solidFill>
          <a:ln w="12700">
            <a:solidFill>
              <a:srgbClr val="1B6E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398EE9D4-4A79-7FDD-C7FD-594DACB9C916}"/>
              </a:ext>
            </a:extLst>
          </p:cNvPr>
          <p:cNvSpPr/>
          <p:nvPr/>
        </p:nvSpPr>
        <p:spPr>
          <a:xfrm>
            <a:off x="4891164" y="3941939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stg_mix__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censo_población</a:t>
            </a: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</a:t>
            </a: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</a:t>
            </a: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gestora</a:t>
            </a:r>
            <a:endParaRPr lang="en-US" sz="750" dirty="0"/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C83A8672-53C0-FC53-2B87-C1DD048FE7F8}"/>
              </a:ext>
            </a:extLst>
          </p:cNvPr>
          <p:cNvSpPr/>
          <p:nvPr/>
        </p:nvSpPr>
        <p:spPr>
          <a:xfrm>
            <a:off x="4899433" y="4372551"/>
            <a:ext cx="1920240" cy="347472"/>
          </a:xfrm>
          <a:prstGeom prst="rect">
            <a:avLst/>
          </a:prstGeom>
          <a:solidFill>
            <a:srgbClr val="C8EDE1"/>
          </a:solidFill>
          <a:ln w="12700">
            <a:solidFill>
              <a:srgbClr val="1B6E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9">
            <a:extLst>
              <a:ext uri="{FF2B5EF4-FFF2-40B4-BE49-F238E27FC236}">
                <a16:creationId xmlns:a16="http://schemas.microsoft.com/office/drawing/2014/main" id="{8FC77FB6-8AE6-9E4C-6FE2-BAF6D76BFFC8}"/>
              </a:ext>
            </a:extLst>
          </p:cNvPr>
          <p:cNvSpPr/>
          <p:nvPr/>
        </p:nvSpPr>
        <p:spPr>
          <a:xfrm>
            <a:off x="4891164" y="4341390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stg_mix__ccaa / provincia / taxonomia</a:t>
            </a:r>
            <a:endParaRPr lang="en-US" sz="750" dirty="0"/>
          </a:p>
        </p:txBody>
      </p:sp>
      <p:sp>
        <p:nvSpPr>
          <p:cNvPr id="51" name="Text 51">
            <a:extLst>
              <a:ext uri="{FF2B5EF4-FFF2-40B4-BE49-F238E27FC236}">
                <a16:creationId xmlns:a16="http://schemas.microsoft.com/office/drawing/2014/main" id="{56E7F679-1DE3-4009-74FE-679EDCAF2D2B}"/>
              </a:ext>
            </a:extLst>
          </p:cNvPr>
          <p:cNvSpPr/>
          <p:nvPr/>
        </p:nvSpPr>
        <p:spPr>
          <a:xfrm>
            <a:off x="7246620" y="1982108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</a:p>
          <a:p>
            <a:pPr marL="0" indent="0" algn="ctr">
              <a:buNone/>
            </a:pPr>
            <a:r>
              <a:rPr lang="en-US" sz="750" dirty="0" err="1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dim_especie</a:t>
            </a:r>
            <a:r>
              <a:rPr lang="en-US" sz="7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(SCD-2)</a:t>
            </a:r>
            <a:endParaRPr lang="en-US" sz="750" dirty="0"/>
          </a:p>
        </p:txBody>
      </p:sp>
      <p:sp>
        <p:nvSpPr>
          <p:cNvPr id="53" name="Text 53">
            <a:extLst>
              <a:ext uri="{FF2B5EF4-FFF2-40B4-BE49-F238E27FC236}">
                <a16:creationId xmlns:a16="http://schemas.microsoft.com/office/drawing/2014/main" id="{DE9910D1-F1F0-CB23-EE2C-C67C48233DA4}"/>
              </a:ext>
            </a:extLst>
          </p:cNvPr>
          <p:cNvSpPr/>
          <p:nvPr/>
        </p:nvSpPr>
        <p:spPr>
          <a:xfrm>
            <a:off x="7134525" y="2423395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dim_area_protegida</a:t>
            </a:r>
            <a:endParaRPr lang="en-US" sz="750" dirty="0"/>
          </a:p>
        </p:txBody>
      </p:sp>
      <p:sp>
        <p:nvSpPr>
          <p:cNvPr id="55" name="Text 55">
            <a:extLst>
              <a:ext uri="{FF2B5EF4-FFF2-40B4-BE49-F238E27FC236}">
                <a16:creationId xmlns:a16="http://schemas.microsoft.com/office/drawing/2014/main" id="{A72C5AFF-A76C-BE87-714E-3E9CF6F53AAC}"/>
              </a:ext>
            </a:extLst>
          </p:cNvPr>
          <p:cNvSpPr/>
          <p:nvPr/>
        </p:nvSpPr>
        <p:spPr>
          <a:xfrm>
            <a:off x="7121425" y="2811053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endParaRPr lang="en-US" sz="750" dirty="0"/>
          </a:p>
        </p:txBody>
      </p:sp>
      <p:sp>
        <p:nvSpPr>
          <p:cNvPr id="57" name="Text 57">
            <a:extLst>
              <a:ext uri="{FF2B5EF4-FFF2-40B4-BE49-F238E27FC236}">
                <a16:creationId xmlns:a16="http://schemas.microsoft.com/office/drawing/2014/main" id="{79730C1E-3AF7-10C8-7A55-BD801AE75B44}"/>
              </a:ext>
            </a:extLst>
          </p:cNvPr>
          <p:cNvSpPr/>
          <p:nvPr/>
        </p:nvSpPr>
        <p:spPr>
          <a:xfrm>
            <a:off x="7159752" y="3261392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dim_lugar</a:t>
            </a:r>
            <a:endParaRPr lang="en-US" sz="750" dirty="0"/>
          </a:p>
        </p:txBody>
      </p:sp>
      <p:sp>
        <p:nvSpPr>
          <p:cNvPr id="59" name="Text 59">
            <a:extLst>
              <a:ext uri="{FF2B5EF4-FFF2-40B4-BE49-F238E27FC236}">
                <a16:creationId xmlns:a16="http://schemas.microsoft.com/office/drawing/2014/main" id="{215F39A7-42F9-1403-BE74-1694F5A959B4}"/>
              </a:ext>
            </a:extLst>
          </p:cNvPr>
          <p:cNvSpPr/>
          <p:nvPr/>
        </p:nvSpPr>
        <p:spPr>
          <a:xfrm>
            <a:off x="7104888" y="3626683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fct_avistamiento</a:t>
            </a:r>
            <a:endParaRPr lang="en-US" sz="750" dirty="0"/>
          </a:p>
        </p:txBody>
      </p:sp>
      <p:sp>
        <p:nvSpPr>
          <p:cNvPr id="61" name="Text 61">
            <a:extLst>
              <a:ext uri="{FF2B5EF4-FFF2-40B4-BE49-F238E27FC236}">
                <a16:creationId xmlns:a16="http://schemas.microsoft.com/office/drawing/2014/main" id="{9B51C8DA-C551-EE9C-88A1-D270341A67C9}"/>
              </a:ext>
            </a:extLst>
          </p:cNvPr>
          <p:cNvSpPr/>
          <p:nvPr/>
        </p:nvSpPr>
        <p:spPr>
          <a:xfrm>
            <a:off x="7110530" y="4038163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fct_censo_anual</a:t>
            </a:r>
            <a:endParaRPr lang="en-US" sz="750" dirty="0"/>
          </a:p>
        </p:txBody>
      </p:sp>
      <p:sp>
        <p:nvSpPr>
          <p:cNvPr id="63" name="Text 63">
            <a:extLst>
              <a:ext uri="{FF2B5EF4-FFF2-40B4-BE49-F238E27FC236}">
                <a16:creationId xmlns:a16="http://schemas.microsoft.com/office/drawing/2014/main" id="{87F974B8-556E-7E63-33C0-CF59DBE4F4C2}"/>
              </a:ext>
            </a:extLst>
          </p:cNvPr>
          <p:cNvSpPr/>
          <p:nvPr/>
        </p:nvSpPr>
        <p:spPr>
          <a:xfrm>
            <a:off x="7110530" y="4493984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fct_diversidad_ccaa</a:t>
            </a:r>
            <a:endParaRPr lang="en-US" sz="750" dirty="0"/>
          </a:p>
        </p:txBody>
      </p:sp>
      <p:sp>
        <p:nvSpPr>
          <p:cNvPr id="64" name="Shape 64">
            <a:extLst>
              <a:ext uri="{FF2B5EF4-FFF2-40B4-BE49-F238E27FC236}">
                <a16:creationId xmlns:a16="http://schemas.microsoft.com/office/drawing/2014/main" id="{D9543B2F-69FF-66E7-E4DF-757A7DB671F7}"/>
              </a:ext>
            </a:extLst>
          </p:cNvPr>
          <p:cNvSpPr/>
          <p:nvPr/>
        </p:nvSpPr>
        <p:spPr>
          <a:xfrm>
            <a:off x="2331720" y="2743200"/>
            <a:ext cx="201168" cy="0"/>
          </a:xfrm>
          <a:prstGeom prst="line">
            <a:avLst/>
          </a:prstGeom>
          <a:noFill/>
          <a:ln w="25400">
            <a:solidFill>
              <a:srgbClr val="5FA8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5">
            <a:extLst>
              <a:ext uri="{FF2B5EF4-FFF2-40B4-BE49-F238E27FC236}">
                <a16:creationId xmlns:a16="http://schemas.microsoft.com/office/drawing/2014/main" id="{DDF50127-D69B-C4BA-09F6-7CD35EB829CC}"/>
              </a:ext>
            </a:extLst>
          </p:cNvPr>
          <p:cNvSpPr/>
          <p:nvPr/>
        </p:nvSpPr>
        <p:spPr>
          <a:xfrm>
            <a:off x="2350008" y="2606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A8D3"/>
                </a:solidFill>
              </a:rPr>
              <a:t>→</a:t>
            </a:r>
            <a:endParaRPr lang="en-US" sz="1400" dirty="0"/>
          </a:p>
        </p:txBody>
      </p:sp>
      <p:sp>
        <p:nvSpPr>
          <p:cNvPr id="66" name="Shape 66">
            <a:extLst>
              <a:ext uri="{FF2B5EF4-FFF2-40B4-BE49-F238E27FC236}">
                <a16:creationId xmlns:a16="http://schemas.microsoft.com/office/drawing/2014/main" id="{70C0EEE0-C82D-575B-440F-EDF32112BCCE}"/>
              </a:ext>
            </a:extLst>
          </p:cNvPr>
          <p:cNvSpPr/>
          <p:nvPr/>
        </p:nvSpPr>
        <p:spPr>
          <a:xfrm>
            <a:off x="4617720" y="2743200"/>
            <a:ext cx="201168" cy="0"/>
          </a:xfrm>
          <a:prstGeom prst="line">
            <a:avLst/>
          </a:prstGeom>
          <a:noFill/>
          <a:ln w="25400">
            <a:solidFill>
              <a:srgbClr val="5FA8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7">
            <a:extLst>
              <a:ext uri="{FF2B5EF4-FFF2-40B4-BE49-F238E27FC236}">
                <a16:creationId xmlns:a16="http://schemas.microsoft.com/office/drawing/2014/main" id="{548AF5E1-944E-9A66-CA79-CE0DAC10FF1D}"/>
              </a:ext>
            </a:extLst>
          </p:cNvPr>
          <p:cNvSpPr/>
          <p:nvPr/>
        </p:nvSpPr>
        <p:spPr>
          <a:xfrm>
            <a:off x="4636008" y="2606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A8D3"/>
                </a:solidFill>
              </a:rPr>
              <a:t>→</a:t>
            </a:r>
            <a:endParaRPr lang="en-US" sz="1400" dirty="0"/>
          </a:p>
        </p:txBody>
      </p:sp>
      <p:sp>
        <p:nvSpPr>
          <p:cNvPr id="68" name="Shape 68">
            <a:extLst>
              <a:ext uri="{FF2B5EF4-FFF2-40B4-BE49-F238E27FC236}">
                <a16:creationId xmlns:a16="http://schemas.microsoft.com/office/drawing/2014/main" id="{01EB6D0F-CA68-5B14-CB66-95FD879A9305}"/>
              </a:ext>
            </a:extLst>
          </p:cNvPr>
          <p:cNvSpPr/>
          <p:nvPr/>
        </p:nvSpPr>
        <p:spPr>
          <a:xfrm>
            <a:off x="6903720" y="2743200"/>
            <a:ext cx="201168" cy="0"/>
          </a:xfrm>
          <a:prstGeom prst="line">
            <a:avLst/>
          </a:prstGeom>
          <a:noFill/>
          <a:ln w="25400">
            <a:solidFill>
              <a:srgbClr val="5FA8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9">
            <a:extLst>
              <a:ext uri="{FF2B5EF4-FFF2-40B4-BE49-F238E27FC236}">
                <a16:creationId xmlns:a16="http://schemas.microsoft.com/office/drawing/2014/main" id="{BCC319F3-DCCB-2A6A-C8CA-63433008D898}"/>
              </a:ext>
            </a:extLst>
          </p:cNvPr>
          <p:cNvSpPr/>
          <p:nvPr/>
        </p:nvSpPr>
        <p:spPr>
          <a:xfrm>
            <a:off x="6922008" y="2606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A8D3"/>
                </a:solidFill>
              </a:rPr>
              <a:t>→</a:t>
            </a:r>
            <a:endParaRPr lang="en-US" sz="1400" dirty="0"/>
          </a:p>
        </p:txBody>
      </p:sp>
      <p:pic>
        <p:nvPicPr>
          <p:cNvPr id="71" name="Imagen 70">
            <a:extLst>
              <a:ext uri="{FF2B5EF4-FFF2-40B4-BE49-F238E27FC236}">
                <a16:creationId xmlns:a16="http://schemas.microsoft.com/office/drawing/2014/main" id="{4DA58CBD-C54F-F3FA-5514-2227B893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035" y="2210547"/>
            <a:ext cx="1944677" cy="2626645"/>
          </a:xfrm>
          <a:prstGeom prst="rect">
            <a:avLst/>
          </a:prstGeom>
        </p:spPr>
      </p:pic>
      <p:pic>
        <p:nvPicPr>
          <p:cNvPr id="73" name="Imagen 72">
            <a:extLst>
              <a:ext uri="{FF2B5EF4-FFF2-40B4-BE49-F238E27FC236}">
                <a16:creationId xmlns:a16="http://schemas.microsoft.com/office/drawing/2014/main" id="{9AD61CB7-EE83-CDD5-C6ED-A01819FA2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697" y="3012074"/>
            <a:ext cx="1991327" cy="1655646"/>
          </a:xfrm>
          <a:prstGeom prst="rect">
            <a:avLst/>
          </a:prstGeom>
        </p:spPr>
      </p:pic>
      <p:pic>
        <p:nvPicPr>
          <p:cNvPr id="75" name="Imagen 74">
            <a:extLst>
              <a:ext uri="{FF2B5EF4-FFF2-40B4-BE49-F238E27FC236}">
                <a16:creationId xmlns:a16="http://schemas.microsoft.com/office/drawing/2014/main" id="{A4CE9870-C730-9051-CF50-1049682EB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003" y="2005289"/>
            <a:ext cx="1442517" cy="28397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Bronze — Fuentes raw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tablas en Snowflake + 3 seeds  ·  Sin transformar  ·  Incluye ruido internacional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RAW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365760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109728" cy="4114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avistamientos.areas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protegidas + bounding box GPS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365760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109728" cy="4114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19476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avistamientos.observaciones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13055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 iNaturalist — incluye Marruecos, Portugal…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365760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65760" y="2414016"/>
            <a:ext cx="109728" cy="4114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" y="243230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especies.catalogo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61518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taxonómico con estados IUCN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898648"/>
            <a:ext cx="365760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65760" y="2898648"/>
            <a:ext cx="109728" cy="4114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291693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especies.censos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0998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Censos oficiales por provincia y año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3657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109728" cy="4114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" y="340156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seed: provincia_ccaa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844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provincia → CCAA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867912"/>
            <a:ext cx="3657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65760" y="3867912"/>
            <a:ext cx="109728" cy="4114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" y="38862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seed: estado_conservacion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0690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IUCN con nivel de riesgo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352544"/>
            <a:ext cx="3657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65760" y="4352544"/>
            <a:ext cx="109728" cy="4114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" y="437083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seed: tipo_amenaza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5537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amenazas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43400" y="1051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EN BRUTO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141732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480560" y="14630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Registros internacionales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80560" y="16642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 incluye observaciones de Marruecos, Portugal y Gibraltar. Filtro WHERE país = 'SPAIN'.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43400" y="201168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480560" y="20574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Todas las clases taxonómicas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80560" y="22585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tiene Reptilia, Insecta… Solo nos interesan Mammalia y Aves. Filtro WHERE iconic_taxon_name IN (…).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43400" y="260604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480560" y="265176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Fechas en múltiples formatos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80560" y="28529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DD/MM/YYYY, YYYY/MM/DD, YYYY-MM-DD mezclados. COALESCE + TRY_TO_DATE con los tres formatos.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43400" y="320040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480560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Valores negativos en censos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80560" y="34472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exportación Excel generan 0 y -1 como 'sin dato'. Macro custom positive_values los detecta.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43400" y="379476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480560" y="3840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Inconsistencias de texto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80560" y="404164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Mayúsculas, tildes, espacios: 'Andalucia' vs 'Andalucía'. TRIM + LOWER + REPLACE en Silver.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43400" y="438912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4480560" y="4434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Sin PKs claras en censos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80560" y="46360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ID único en censos — se identifica por (especie, año, provincia, entidad). Surrogate key MD5.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 permite corregir observaciones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cambiar la especie de un avistamiento ya publicado → necesitamos MERGE, no INSERT </a:t>
            </a:r>
            <a:r>
              <a:rPr lang="en-US" sz="1200" i="1" dirty="0" err="1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APPEND.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840480" cy="3794760"/>
          </a:xfrm>
          <a:prstGeom prst="rect">
            <a:avLst/>
          </a:prstGeom>
          <a:solidFill>
            <a:srgbClr val="1A3C2B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observador registra un avistamiento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'Aquila chrysaetos' (Águila real)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más tarde lo corrige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'Aquila fasciata' (Águila de Bonelli).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INSERT puro, tendríamos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registros del mismo avistamiento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especies distintas.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221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incremental con estrategia MERGE.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PK es id_avistamiento — si existe, actualiza;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nuevo, inserta.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10241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EN dbt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62272" y="3054096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645152" y="2999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unique_key = id_avistamiento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5152" y="32004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ejecuta MERGE INTO: actualiza si existe, inserta si es nuevo.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62272" y="3511296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45152" y="3456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-1 hora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3657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 puede entregar observaciones con retraso.</a:t>
            </a:r>
            <a:endParaRPr lang="en-US" sz="9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CC25889-5FC3-4AB4-2372-BD97DA7D2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047" y="1292610"/>
            <a:ext cx="2431915" cy="1529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Marts: 4 dimensiones + 3 facts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Materialización: TABLE  ·  4 schemas  ·  Consumido directamente por Power BI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011680" cy="3200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dim_especie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</a:t>
            </a: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dim_especie_censo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66420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SCD-2 vigente del snapshot. nombre, familia, clase, endemismo, es_migratoria, CITES.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42032" y="129844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542032" y="1298448"/>
            <a:ext cx="2011680" cy="3200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15184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dim_area_protegida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15184" y="166420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GPS + figuras (LIC/ZEPA/PN) + entidad gestora. Alimenta el join espacial.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18304" y="129844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718304" y="1298448"/>
            <a:ext cx="2011680" cy="3200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791456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166420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fecha. Granularidad estricta: año, mes, </a:t>
            </a:r>
            <a:r>
              <a:rPr lang="en-US" sz="85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</a:t>
            </a: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Hora </a:t>
            </a:r>
            <a:r>
              <a:rPr lang="en-US" sz="85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</a:t>
            </a: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</a:t>
            </a: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94576" y="129844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894576" y="1298448"/>
            <a:ext cx="2011680" cy="3200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967728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dim_lugar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dim_ccaa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67728" y="166420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→ CCAA desnormalizados. LEFT JOIN: Gibraltar/frontera queda como NULL.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2743200" cy="3200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38912" y="29900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fct_avistamiento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Granularidad: 1 fila / avistamiento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" y="3566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900" dirty="0"/>
              <a:t>SQL: JOIN espacial </a:t>
            </a:r>
            <a:r>
              <a:rPr lang="es-ES" sz="900" dirty="0" err="1"/>
              <a:t>bounding</a:t>
            </a:r>
            <a:r>
              <a:rPr lang="es-ES" sz="900" dirty="0"/>
              <a:t> box (BETWEEN </a:t>
            </a:r>
            <a:r>
              <a:rPr lang="es-ES" sz="900" dirty="0" err="1"/>
              <a:t>lat_min</a:t>
            </a:r>
            <a:r>
              <a:rPr lang="es-ES" sz="900" dirty="0"/>
              <a:t>…</a:t>
            </a:r>
            <a:r>
              <a:rPr lang="es-ES" sz="900" dirty="0" err="1"/>
              <a:t>lat_max</a:t>
            </a:r>
            <a:r>
              <a:rPr lang="es-ES" sz="900" dirty="0"/>
              <a:t>). QUALIFY resuelve solapamientos de áreas: Parque Nacional &gt; ZEPA &gt; LIC. Gold solo expone avistamientos de especies catalogadas (</a:t>
            </a:r>
            <a:r>
              <a:rPr lang="es-ES" sz="900" dirty="0" err="1"/>
              <a:t>es_catalogada</a:t>
            </a:r>
            <a:r>
              <a:rPr lang="es-ES" sz="900" dirty="0"/>
              <a:t> = true).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" y="42793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unique </a:t>
            </a:r>
            <a:r>
              <a:rPr lang="en-US" sz="800" i="1" dirty="0" err="1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id_avistamiento</a:t>
            </a:r>
            <a:r>
              <a:rPr lang="en-US" sz="8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800" i="1" dirty="0" err="1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r>
              <a:rPr lang="en-US" sz="8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8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QUALIFY no </a:t>
            </a:r>
            <a:r>
              <a:rPr lang="en-US" sz="800" i="1" dirty="0" err="1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</a:t>
            </a:r>
            <a:r>
              <a:rPr lang="en-US" sz="8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r>
              <a:rPr lang="en-US" sz="8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6120" y="297180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246120" y="2971800"/>
            <a:ext cx="2743200" cy="3200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319272" y="29900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fct_censo_anual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19272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Granularidad: 1 fila / especie+provincia+año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19272" y="3566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LAG() para variación vs año anterior. CASE para tendencia: alza/baja/estable/sin_referencia. División segura vs 0.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19272" y="42793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accepted_values en tendencia — 4 ramas del CASE sin ELSE implícito.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22719" y="2990088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126480" y="2971800"/>
            <a:ext cx="2743200" cy="3200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199632" y="29900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fct_diversidad_ccaa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99632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Granularidad: 1 fila / ccaa+año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99632" y="3566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</a:t>
            </a:r>
            <a:r>
              <a:rPr lang="en-US" sz="85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</a:t>
            </a:r>
            <a:r>
              <a:rPr lang="en-US" sz="85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provincia y especie conocidas. Índices Shannon &amp; Simpson calculados en SQL.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99632" y="42793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una especie puede cambiar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MITECO necesita ver el estado histórico de conservación  ·  Snapshot SCD Tipo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0" cy="1965960"/>
          </a:xfrm>
          <a:prstGeom prst="rect">
            <a:avLst/>
          </a:prstGeom>
          <a:solidFill>
            <a:srgbClr val="1A3C2B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Lince Ibérico (Lynx pardinus)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1444752"/>
            <a:ext cx="1325880" cy="13716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30352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2176272"/>
            <a:ext cx="1325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Peligro Crítico — &lt;100 individuos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93392" y="1444752"/>
            <a:ext cx="132588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993392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93392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93392" y="2176272"/>
            <a:ext cx="1325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Peligro — programa cría en cautividad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56432" y="1444752"/>
            <a:ext cx="1325880" cy="1371600"/>
          </a:xfrm>
          <a:prstGeom prst="rect">
            <a:avLst/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456432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56432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56432" y="2176272"/>
            <a:ext cx="1325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— &gt;1.100 individuos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avistamientos había cuando era CR? → cruzamos fct_avistamiento con el snapshot por fecha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54256" y="786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SNAPSHOT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26348" y="3015723"/>
            <a:ext cx="124223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06966" y="2952236"/>
            <a:ext cx="2140993" cy="24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strategy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06966" y="3254005"/>
            <a:ext cx="2140993" cy="33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 updated_at en la fuente. Compara valores de check_cols entre </a:t>
            </a:r>
            <a:r>
              <a:rPr lang="en-US" sz="90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ejecuciones</a:t>
            </a: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hay </a:t>
            </a:r>
            <a:r>
              <a:rPr lang="en-US" sz="90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Fuente </a:t>
            </a:r>
            <a:r>
              <a:rPr lang="en-US" sz="90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fiable</a:t>
            </a:r>
            <a:endParaRPr lang="en-US" sz="900" dirty="0">
              <a:solidFill>
                <a:srgbClr val="1B2D2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cs typeface="Calibri" pitchFamily="34" charset="-120"/>
              </a:rPr>
              <a:t>de </a:t>
            </a:r>
            <a:r>
              <a:rPr lang="en-US" sz="900" dirty="0" err="1">
                <a:solidFill>
                  <a:srgbClr val="1B2D24"/>
                </a:solidFill>
                <a:latin typeface="Calibri" pitchFamily="34" charset="0"/>
                <a:cs typeface="Calibri" pitchFamily="34" charset="-120"/>
              </a:rPr>
              <a:t>updated_at</a:t>
            </a:r>
            <a:r>
              <a:rPr lang="en-US" sz="900" dirty="0">
                <a:solidFill>
                  <a:srgbClr val="1B2D24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16203" y="3923994"/>
            <a:ext cx="124223" cy="1452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306965" y="3873707"/>
            <a:ext cx="1657057" cy="24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unique_key = nombre_cientifico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76612" y="4317640"/>
            <a:ext cx="1717764" cy="33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 globalmente. No usamos id </a:t>
            </a:r>
            <a:r>
              <a:rPr lang="en-US" sz="90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</a:t>
            </a: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nombre científico es la identidad de la especie.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24086" y="1220100"/>
            <a:ext cx="124223" cy="1057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333906" y="1213298"/>
            <a:ext cx="1563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dim_especie filtra dbt_valid_to IS NULL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80404" y="1570498"/>
            <a:ext cx="156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siempre consume el estado vigente. El histórico </a:t>
            </a:r>
            <a:r>
              <a:rPr lang="en-US" sz="90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accessible.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46738" y="2048256"/>
            <a:ext cx="101571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400039" y="2048256"/>
            <a:ext cx="1563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sobre stg_mix__especie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80404" y="2393458"/>
            <a:ext cx="156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sobre Bronze raw, </a:t>
            </a:r>
            <a:r>
              <a:rPr lang="es-ES" sz="900" dirty="0"/>
              <a:t>el catálogo lo actualiza un biólogo editando el CSV </a:t>
            </a:r>
            <a:r>
              <a:rPr lang="en-US" sz="9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origen.</a:t>
            </a:r>
            <a:endParaRPr lang="en-US" sz="9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BBD2F7A8-E122-996C-E33F-488D6E75F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241" y="1361410"/>
            <a:ext cx="1831423" cy="32207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entornos y carga de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ingesta avistamientos  ·  GitHub Actions orquesta  ·  3 ramas: dev / pre / pro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560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5603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DEV_BRONZE_DB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DEV_SILVER_DB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DEV_GOLD_DB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local.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run / dbt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91256" y="1060704"/>
            <a:ext cx="2560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182112" y="1024128"/>
            <a:ext cx="256032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182112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73552" y="148132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PRE_BRONZE_DB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PRE_SILVER_DB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PRE_GOLD_DB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19272" y="1732788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GitHub 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98464" y="1024128"/>
            <a:ext cx="2560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998464" y="1024128"/>
            <a:ext cx="256032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998464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9904" y="148132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PRO_BRONZE_DB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PRO_SILVER_DB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PRO_GOLD_DB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760220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main → job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916C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42432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916C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8412480" cy="621792"/>
          </a:xfrm>
          <a:prstGeom prst="rect">
            <a:avLst/>
          </a:prstGeom>
          <a:solidFill>
            <a:srgbClr val="FFF8E1"/>
          </a:solidFill>
          <a:ln w="12700">
            <a:solidFill>
              <a:srgbClr val="C8E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109728" cy="621792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94360" y="35387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DBT_ENVIRONMENTS = 'DEV' | 'PRE' | 'PRO'  →  mismo código YAML, mismo dbt_project.yml. La variable controla en qué base de datos materializa cada capa. Cero credenciales en el repositorio.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4083393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DE INGESTA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3159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_ 3 ramas (dev/pre/main) → job dbt run + dbt test en cada PR y merge </a:t>
            </a:r>
            <a:r>
              <a:rPr lang="en-US" sz="1000" dirty="0" err="1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r>
              <a:rPr lang="en-US" sz="1000" dirty="0">
                <a:solidFill>
                  <a:srgbClr val="1B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>
              <a:solidFill>
                <a:srgbClr val="1B2D24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s-ES" sz="1000" dirty="0"/>
              <a:t>Uso de </a:t>
            </a:r>
            <a:r>
              <a:rPr lang="es-ES" sz="1000" dirty="0" err="1"/>
              <a:t>freshness</a:t>
            </a:r>
            <a:r>
              <a:rPr lang="es-ES" sz="1000" dirty="0"/>
              <a:t> en PRO: alerta si Bronze lleva +24h sin datos nuevos — evita que MITECO tome decisiones con datos obsoletos.</a:t>
            </a:r>
            <a:endParaRPr lang="en-US" sz="10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594E9DB-6261-1BBB-9E2E-BB1C259ED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68" y="4315968"/>
            <a:ext cx="2304354" cy="79574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2E4003F0-C9CA-230F-0618-E81CE28FB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800757"/>
            <a:ext cx="1982673" cy="481042"/>
          </a:xfrm>
          <a:prstGeom prst="rect">
            <a:avLst/>
          </a:prstGeom>
        </p:spPr>
      </p:pic>
      <p:sp>
        <p:nvSpPr>
          <p:cNvPr id="32" name="Text 22">
            <a:extLst>
              <a:ext uri="{FF2B5EF4-FFF2-40B4-BE49-F238E27FC236}">
                <a16:creationId xmlns:a16="http://schemas.microsoft.com/office/drawing/2014/main" id="{08A874C2-5922-B83F-141B-7B68D6E9ACCA}"/>
              </a:ext>
            </a:extLst>
          </p:cNvPr>
          <p:cNvSpPr/>
          <p:nvPr/>
        </p:nvSpPr>
        <p:spPr>
          <a:xfrm>
            <a:off x="6089904" y="255664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</a:t>
            </a:r>
            <a:r>
              <a:rPr lang="en-US" sz="1000" b="1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fresness</a:t>
            </a: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pro: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Power BI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cuadros de mando conectados directamente a Gold en Snowflake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697480" cy="3611880"/>
          </a:xfrm>
          <a:prstGeom prst="rect">
            <a:avLst/>
          </a:prstGeom>
          <a:solidFill>
            <a:srgbClr val="1B3A2B"/>
          </a:solidFill>
          <a:ln w="12700">
            <a:solidFill>
              <a:srgbClr val="2D6A4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9748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Mapa de Avistamientos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929384"/>
            <a:ext cx="118872" cy="1188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12648" y="18470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iNaturalist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2660904"/>
            <a:ext cx="118872" cy="1188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12648" y="257860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especie, clase,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y área protegida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3392424"/>
            <a:ext cx="118872" cy="1188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2648" y="3310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%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fuera de zona protegida → alerta temprana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4123944"/>
            <a:ext cx="118872" cy="1188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2648" y="40416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fct_avistamiento + dim_especie +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dim_area_protegida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1261872"/>
            <a:ext cx="2697480" cy="3611880"/>
          </a:xfrm>
          <a:prstGeom prst="rect">
            <a:avLst/>
          </a:prstGeom>
          <a:solidFill>
            <a:srgbClr val="1B3A2B"/>
          </a:solidFill>
          <a:ln w="12700">
            <a:solidFill>
              <a:srgbClr val="1A527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172968" y="1261872"/>
            <a:ext cx="269748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264408" y="12801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Seguimiento de Censos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82696" y="1929384"/>
            <a:ext cx="118872" cy="1188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465576" y="18470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temporal de n_individuos por especie y provincia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82696" y="2660904"/>
            <a:ext cx="118872" cy="1188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465576" y="257860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Tendencia: alza / baja /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82696" y="3392424"/>
            <a:ext cx="118872" cy="1188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465576" y="3310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82696" y="4123944"/>
            <a:ext cx="118872" cy="1188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465576" y="40416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fct_censo_anual + dim_especie + dim_lugar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25896" y="1261872"/>
            <a:ext cx="2697480" cy="3611880"/>
          </a:xfrm>
          <a:prstGeom prst="rect">
            <a:avLst/>
          </a:prstGeom>
          <a:solidFill>
            <a:srgbClr val="1B3A2B"/>
          </a:solidFill>
          <a:ln w="12700">
            <a:solidFill>
              <a:srgbClr val="4C1D9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25896" y="1261872"/>
            <a:ext cx="2697480" cy="4572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17336" y="12801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Diversidad Ecológica CCAA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35624" y="1929384"/>
            <a:ext cx="118872" cy="11887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318504" y="18470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Shannon y Simpson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comunidad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autónoma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miden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matemáticamente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riqueza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2660904"/>
            <a:ext cx="118872" cy="11887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318504" y="257860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CCAA por riqueza de especies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35624" y="3392424"/>
            <a:ext cx="118872" cy="11887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318504" y="3310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justificar fondos de conservación de la 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35624" y="4123944"/>
            <a:ext cx="118872" cy="11887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318504" y="40416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fct_diversidad_ccaa + </a:t>
            </a:r>
            <a:r>
              <a:rPr lang="en-US" sz="1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dim_ccaa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3234</TotalTime>
  <Words>1762</Words>
  <Application>Microsoft Office PowerPoint</Application>
  <PresentationFormat>Presentación en pantalla (16:9)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 Display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Conservación y Seguimiento de Especies — España</dc:title>
  <dc:subject>PptxGenJS Presentation</dc:subject>
  <dc:creator>PptxGenJS</dc:creator>
  <cp:lastModifiedBy>Ramón García Jiménez</cp:lastModifiedBy>
  <cp:revision>19</cp:revision>
  <dcterms:created xsi:type="dcterms:W3CDTF">2026-05-16T22:09:47Z</dcterms:created>
  <dcterms:modified xsi:type="dcterms:W3CDTF">2026-05-21T19:19:13Z</dcterms:modified>
</cp:coreProperties>
</file>